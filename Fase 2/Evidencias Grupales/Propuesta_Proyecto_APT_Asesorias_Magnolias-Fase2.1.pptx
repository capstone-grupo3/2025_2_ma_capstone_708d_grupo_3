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uli Heavy" charset="1" panose="00000A00000000000000"/>
      <p:regular r:id="rId13"/>
    </p:embeddedFont>
    <p:embeddedFont>
      <p:font typeface="TT Interphases Bold" charset="1" panose="02000803060000020004"/>
      <p:regular r:id="rId14"/>
    </p:embeddedFont>
    <p:embeddedFont>
      <p:font typeface="TT Interphases" charset="1" panose="02000503020000020004"/>
      <p:regular r:id="rId15"/>
    </p:embeddedFont>
    <p:embeddedFont>
      <p:font typeface="Muli Ultra-Bold" charset="1" panose="000009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2376901">
            <a:off x="15369854" y="2127096"/>
            <a:ext cx="13552631" cy="21642251"/>
            <a:chOff x="0" y="0"/>
            <a:chExt cx="3569417" cy="5700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9417" cy="5700017"/>
            </a:xfrm>
            <a:custGeom>
              <a:avLst/>
              <a:gdLst/>
              <a:ahLst/>
              <a:cxnLst/>
              <a:rect r="r" b="b" t="t" l="l"/>
              <a:pathLst>
                <a:path h="5700017" w="3569417">
                  <a:moveTo>
                    <a:pt x="0" y="0"/>
                  </a:moveTo>
                  <a:lnTo>
                    <a:pt x="3569417" y="0"/>
                  </a:lnTo>
                  <a:lnTo>
                    <a:pt x="3569417" y="5700017"/>
                  </a:lnTo>
                  <a:lnTo>
                    <a:pt x="0" y="5700017"/>
                  </a:ln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9417" cy="57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89205" y="7388280"/>
            <a:ext cx="2745202" cy="527075"/>
            <a:chOff x="0" y="0"/>
            <a:chExt cx="211668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6682" cy="406400"/>
            </a:xfrm>
            <a:custGeom>
              <a:avLst/>
              <a:gdLst/>
              <a:ahLst/>
              <a:cxnLst/>
              <a:rect r="r" b="b" t="t" l="l"/>
              <a:pathLst>
                <a:path h="406400" w="2116682">
                  <a:moveTo>
                    <a:pt x="1913482" y="0"/>
                  </a:moveTo>
                  <a:cubicBezTo>
                    <a:pt x="2025706" y="0"/>
                    <a:pt x="2116682" y="90976"/>
                    <a:pt x="2116682" y="203200"/>
                  </a:cubicBezTo>
                  <a:cubicBezTo>
                    <a:pt x="2116682" y="315424"/>
                    <a:pt x="2025706" y="406400"/>
                    <a:pt x="19134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166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303237" y="1845815"/>
            <a:ext cx="1681525" cy="1791444"/>
          </a:xfrm>
          <a:custGeom>
            <a:avLst/>
            <a:gdLst/>
            <a:ahLst/>
            <a:cxnLst/>
            <a:rect r="r" b="b" t="t" l="l"/>
            <a:pathLst>
              <a:path h="1791444" w="1681525">
                <a:moveTo>
                  <a:pt x="0" y="0"/>
                </a:moveTo>
                <a:lnTo>
                  <a:pt x="1681526" y="0"/>
                </a:lnTo>
                <a:lnTo>
                  <a:pt x="1681526" y="1791444"/>
                </a:lnTo>
                <a:lnTo>
                  <a:pt x="0" y="179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95769" y="3934794"/>
            <a:ext cx="11896462" cy="2380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3"/>
              </a:lnSpc>
            </a:pPr>
            <a:r>
              <a:rPr lang="en-US" b="true" sz="7599" spc="144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PYME MAGNOLIAS ASESORÍAS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97382" y="7463175"/>
            <a:ext cx="2328849" cy="33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1"/>
              </a:lnSpc>
              <a:spcBef>
                <a:spcPct val="0"/>
              </a:spcBef>
            </a:pPr>
            <a:r>
              <a:rPr lang="en-US" b="true" sz="2022">
                <a:solidFill>
                  <a:srgbClr val="000A1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Carlos González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577307" y="7388267"/>
            <a:ext cx="2745202" cy="527075"/>
            <a:chOff x="0" y="0"/>
            <a:chExt cx="2116682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6682" cy="406400"/>
            </a:xfrm>
            <a:custGeom>
              <a:avLst/>
              <a:gdLst/>
              <a:ahLst/>
              <a:cxnLst/>
              <a:rect r="r" b="b" t="t" l="l"/>
              <a:pathLst>
                <a:path h="406400" w="2116682">
                  <a:moveTo>
                    <a:pt x="1913482" y="0"/>
                  </a:moveTo>
                  <a:cubicBezTo>
                    <a:pt x="2025706" y="0"/>
                    <a:pt x="2116682" y="90976"/>
                    <a:pt x="2116682" y="203200"/>
                  </a:cubicBezTo>
                  <a:cubicBezTo>
                    <a:pt x="2116682" y="315424"/>
                    <a:pt x="2025706" y="406400"/>
                    <a:pt x="19134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166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785484" y="7463175"/>
            <a:ext cx="2328849" cy="33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1"/>
              </a:lnSpc>
              <a:spcBef>
                <a:spcPct val="0"/>
              </a:spcBef>
            </a:pPr>
            <a:r>
              <a:rPr lang="en-US" b="true" sz="2022">
                <a:solidFill>
                  <a:srgbClr val="000A1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Diego Escobar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98947" y="7388280"/>
            <a:ext cx="2745202" cy="527075"/>
            <a:chOff x="0" y="0"/>
            <a:chExt cx="2116682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6682" cy="406400"/>
            </a:xfrm>
            <a:custGeom>
              <a:avLst/>
              <a:gdLst/>
              <a:ahLst/>
              <a:cxnLst/>
              <a:rect r="r" b="b" t="t" l="l"/>
              <a:pathLst>
                <a:path h="406400" w="2116682">
                  <a:moveTo>
                    <a:pt x="1913482" y="0"/>
                  </a:moveTo>
                  <a:cubicBezTo>
                    <a:pt x="2025706" y="0"/>
                    <a:pt x="2116682" y="90976"/>
                    <a:pt x="2116682" y="203200"/>
                  </a:cubicBezTo>
                  <a:cubicBezTo>
                    <a:pt x="2116682" y="315424"/>
                    <a:pt x="2025706" y="406400"/>
                    <a:pt x="19134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166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607123" y="7463175"/>
            <a:ext cx="2328849" cy="33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1"/>
              </a:lnSpc>
              <a:spcBef>
                <a:spcPct val="0"/>
              </a:spcBef>
            </a:pPr>
            <a:r>
              <a:rPr lang="en-US" b="true" sz="2022">
                <a:solidFill>
                  <a:srgbClr val="000A1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Benjamin Villarroel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5679327" y="-5226033"/>
            <a:ext cx="7656149" cy="20739065"/>
            <a:chOff x="0" y="0"/>
            <a:chExt cx="2016434" cy="546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6434" cy="5462141"/>
            </a:xfrm>
            <a:custGeom>
              <a:avLst/>
              <a:gdLst/>
              <a:ahLst/>
              <a:cxnLst/>
              <a:rect r="r" b="b" t="t" l="l"/>
              <a:pathLst>
                <a:path h="5462141" w="2016434">
                  <a:moveTo>
                    <a:pt x="28314" y="0"/>
                  </a:moveTo>
                  <a:lnTo>
                    <a:pt x="1988121" y="0"/>
                  </a:lnTo>
                  <a:cubicBezTo>
                    <a:pt x="1995630" y="0"/>
                    <a:pt x="2002832" y="2983"/>
                    <a:pt x="2008142" y="8293"/>
                  </a:cubicBezTo>
                  <a:cubicBezTo>
                    <a:pt x="2013452" y="13603"/>
                    <a:pt x="2016434" y="20804"/>
                    <a:pt x="2016434" y="28314"/>
                  </a:cubicBezTo>
                  <a:lnTo>
                    <a:pt x="2016434" y="5433827"/>
                  </a:lnTo>
                  <a:cubicBezTo>
                    <a:pt x="2016434" y="5441336"/>
                    <a:pt x="2013452" y="5448538"/>
                    <a:pt x="2008142" y="5453848"/>
                  </a:cubicBezTo>
                  <a:cubicBezTo>
                    <a:pt x="2002832" y="5459157"/>
                    <a:pt x="1995630" y="5462141"/>
                    <a:pt x="1988121" y="5462141"/>
                  </a:cubicBezTo>
                  <a:lnTo>
                    <a:pt x="28314" y="5462141"/>
                  </a:lnTo>
                  <a:cubicBezTo>
                    <a:pt x="20804" y="5462141"/>
                    <a:pt x="13603" y="5459157"/>
                    <a:pt x="8293" y="5453848"/>
                  </a:cubicBezTo>
                  <a:cubicBezTo>
                    <a:pt x="2983" y="5448538"/>
                    <a:pt x="0" y="5441336"/>
                    <a:pt x="0" y="5433827"/>
                  </a:cubicBezTo>
                  <a:lnTo>
                    <a:pt x="0" y="28314"/>
                  </a:lnTo>
                  <a:cubicBezTo>
                    <a:pt x="0" y="20804"/>
                    <a:pt x="2983" y="13603"/>
                    <a:pt x="8293" y="8293"/>
                  </a:cubicBezTo>
                  <a:cubicBezTo>
                    <a:pt x="13603" y="2983"/>
                    <a:pt x="20804" y="0"/>
                    <a:pt x="283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6434" cy="5500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34067" y="1529631"/>
            <a:ext cx="10019866" cy="119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51"/>
              </a:lnSpc>
              <a:spcBef>
                <a:spcPct val="0"/>
              </a:spcBef>
            </a:pPr>
            <a:r>
              <a:rPr lang="en-US" b="true" sz="7621" spc="144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AVANCE TECNICO</a:t>
            </a:r>
          </a:p>
        </p:txBody>
      </p:sp>
      <p:grpSp>
        <p:nvGrpSpPr>
          <p:cNvPr name="Group 7" id="7"/>
          <p:cNvGrpSpPr/>
          <p:nvPr/>
        </p:nvGrpSpPr>
        <p:grpSpPr>
          <a:xfrm rot="5400000">
            <a:off x="3405327" y="523068"/>
            <a:ext cx="1533504" cy="7173523"/>
            <a:chOff x="0" y="0"/>
            <a:chExt cx="431505" cy="20185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505" cy="2018524"/>
            </a:xfrm>
            <a:custGeom>
              <a:avLst/>
              <a:gdLst/>
              <a:ahLst/>
              <a:cxnLst/>
              <a:rect r="r" b="b" t="t" l="l"/>
              <a:pathLst>
                <a:path h="2018524" w="431505">
                  <a:moveTo>
                    <a:pt x="141358" y="0"/>
                  </a:moveTo>
                  <a:lnTo>
                    <a:pt x="290147" y="0"/>
                  </a:lnTo>
                  <a:cubicBezTo>
                    <a:pt x="327638" y="0"/>
                    <a:pt x="363593" y="14893"/>
                    <a:pt x="390102" y="41403"/>
                  </a:cubicBezTo>
                  <a:cubicBezTo>
                    <a:pt x="416612" y="67913"/>
                    <a:pt x="431505" y="103868"/>
                    <a:pt x="431505" y="141358"/>
                  </a:cubicBezTo>
                  <a:lnTo>
                    <a:pt x="431505" y="1877165"/>
                  </a:lnTo>
                  <a:cubicBezTo>
                    <a:pt x="431505" y="1955235"/>
                    <a:pt x="368217" y="2018524"/>
                    <a:pt x="290147" y="2018524"/>
                  </a:cubicBezTo>
                  <a:lnTo>
                    <a:pt x="141358" y="2018524"/>
                  </a:lnTo>
                  <a:cubicBezTo>
                    <a:pt x="63288" y="2018524"/>
                    <a:pt x="0" y="1955235"/>
                    <a:pt x="0" y="1877165"/>
                  </a:cubicBezTo>
                  <a:lnTo>
                    <a:pt x="0" y="141358"/>
                  </a:lnTo>
                  <a:cubicBezTo>
                    <a:pt x="0" y="63288"/>
                    <a:pt x="63288" y="0"/>
                    <a:pt x="141358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1505" cy="205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85317" y="3797170"/>
            <a:ext cx="7173523" cy="7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12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Bas</a:t>
            </a:r>
            <a:r>
              <a:rPr lang="en-US" sz="2121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 de datos PostgreSQL diseñada e implementada con sus relaciones.</a:t>
            </a:r>
          </a:p>
        </p:txBody>
      </p:sp>
      <p:grpSp>
        <p:nvGrpSpPr>
          <p:cNvPr name="Group 11" id="11"/>
          <p:cNvGrpSpPr/>
          <p:nvPr/>
        </p:nvGrpSpPr>
        <p:grpSpPr>
          <a:xfrm rot="5400000">
            <a:off x="3405327" y="2675697"/>
            <a:ext cx="1533504" cy="7173523"/>
            <a:chOff x="0" y="0"/>
            <a:chExt cx="431505" cy="20185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1505" cy="2018524"/>
            </a:xfrm>
            <a:custGeom>
              <a:avLst/>
              <a:gdLst/>
              <a:ahLst/>
              <a:cxnLst/>
              <a:rect r="r" b="b" t="t" l="l"/>
              <a:pathLst>
                <a:path h="2018524" w="431505">
                  <a:moveTo>
                    <a:pt x="141358" y="0"/>
                  </a:moveTo>
                  <a:lnTo>
                    <a:pt x="290147" y="0"/>
                  </a:lnTo>
                  <a:cubicBezTo>
                    <a:pt x="327638" y="0"/>
                    <a:pt x="363593" y="14893"/>
                    <a:pt x="390102" y="41403"/>
                  </a:cubicBezTo>
                  <a:cubicBezTo>
                    <a:pt x="416612" y="67913"/>
                    <a:pt x="431505" y="103868"/>
                    <a:pt x="431505" y="141358"/>
                  </a:cubicBezTo>
                  <a:lnTo>
                    <a:pt x="431505" y="1877165"/>
                  </a:lnTo>
                  <a:cubicBezTo>
                    <a:pt x="431505" y="1955235"/>
                    <a:pt x="368217" y="2018524"/>
                    <a:pt x="290147" y="2018524"/>
                  </a:cubicBezTo>
                  <a:lnTo>
                    <a:pt x="141358" y="2018524"/>
                  </a:lnTo>
                  <a:cubicBezTo>
                    <a:pt x="63288" y="2018524"/>
                    <a:pt x="0" y="1955235"/>
                    <a:pt x="0" y="1877165"/>
                  </a:cubicBezTo>
                  <a:lnTo>
                    <a:pt x="0" y="141358"/>
                  </a:lnTo>
                  <a:cubicBezTo>
                    <a:pt x="0" y="63288"/>
                    <a:pt x="63288" y="0"/>
                    <a:pt x="141358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31505" cy="205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5317" y="5949799"/>
            <a:ext cx="7173523" cy="37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12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</a:t>
            </a:r>
            <a:r>
              <a:rPr lang="en-US" sz="2121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exión estable entre backend y base de datos.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12905786" y="523068"/>
            <a:ext cx="1533504" cy="7173523"/>
            <a:chOff x="0" y="0"/>
            <a:chExt cx="431505" cy="20185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1505" cy="2018524"/>
            </a:xfrm>
            <a:custGeom>
              <a:avLst/>
              <a:gdLst/>
              <a:ahLst/>
              <a:cxnLst/>
              <a:rect r="r" b="b" t="t" l="l"/>
              <a:pathLst>
                <a:path h="2018524" w="431505">
                  <a:moveTo>
                    <a:pt x="141358" y="0"/>
                  </a:moveTo>
                  <a:lnTo>
                    <a:pt x="290147" y="0"/>
                  </a:lnTo>
                  <a:cubicBezTo>
                    <a:pt x="327638" y="0"/>
                    <a:pt x="363593" y="14893"/>
                    <a:pt x="390102" y="41403"/>
                  </a:cubicBezTo>
                  <a:cubicBezTo>
                    <a:pt x="416612" y="67913"/>
                    <a:pt x="431505" y="103868"/>
                    <a:pt x="431505" y="141358"/>
                  </a:cubicBezTo>
                  <a:lnTo>
                    <a:pt x="431505" y="1877165"/>
                  </a:lnTo>
                  <a:cubicBezTo>
                    <a:pt x="431505" y="1955235"/>
                    <a:pt x="368217" y="2018524"/>
                    <a:pt x="290147" y="2018524"/>
                  </a:cubicBezTo>
                  <a:lnTo>
                    <a:pt x="141358" y="2018524"/>
                  </a:lnTo>
                  <a:cubicBezTo>
                    <a:pt x="63288" y="2018524"/>
                    <a:pt x="0" y="1955235"/>
                    <a:pt x="0" y="1877165"/>
                  </a:cubicBezTo>
                  <a:lnTo>
                    <a:pt x="0" y="141358"/>
                  </a:lnTo>
                  <a:cubicBezTo>
                    <a:pt x="0" y="63288"/>
                    <a:pt x="63288" y="0"/>
                    <a:pt x="141358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1505" cy="205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85777" y="3797170"/>
            <a:ext cx="7173523" cy="7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12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Back</a:t>
            </a:r>
            <a:r>
              <a:rPr lang="en-US" sz="2121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end desarrollado con Nest.js bajo arquitectura API REST.</a:t>
            </a:r>
          </a:p>
        </p:txBody>
      </p:sp>
      <p:grpSp>
        <p:nvGrpSpPr>
          <p:cNvPr name="Group 19" id="19"/>
          <p:cNvGrpSpPr/>
          <p:nvPr/>
        </p:nvGrpSpPr>
        <p:grpSpPr>
          <a:xfrm rot="5400000">
            <a:off x="12905786" y="2420187"/>
            <a:ext cx="1533504" cy="7173523"/>
            <a:chOff x="0" y="0"/>
            <a:chExt cx="431505" cy="20185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1505" cy="2018524"/>
            </a:xfrm>
            <a:custGeom>
              <a:avLst/>
              <a:gdLst/>
              <a:ahLst/>
              <a:cxnLst/>
              <a:rect r="r" b="b" t="t" l="l"/>
              <a:pathLst>
                <a:path h="2018524" w="431505">
                  <a:moveTo>
                    <a:pt x="141358" y="0"/>
                  </a:moveTo>
                  <a:lnTo>
                    <a:pt x="290147" y="0"/>
                  </a:lnTo>
                  <a:cubicBezTo>
                    <a:pt x="327638" y="0"/>
                    <a:pt x="363593" y="14893"/>
                    <a:pt x="390102" y="41403"/>
                  </a:cubicBezTo>
                  <a:cubicBezTo>
                    <a:pt x="416612" y="67913"/>
                    <a:pt x="431505" y="103868"/>
                    <a:pt x="431505" y="141358"/>
                  </a:cubicBezTo>
                  <a:lnTo>
                    <a:pt x="431505" y="1877165"/>
                  </a:lnTo>
                  <a:cubicBezTo>
                    <a:pt x="431505" y="1955235"/>
                    <a:pt x="368217" y="2018524"/>
                    <a:pt x="290147" y="2018524"/>
                  </a:cubicBezTo>
                  <a:lnTo>
                    <a:pt x="141358" y="2018524"/>
                  </a:lnTo>
                  <a:cubicBezTo>
                    <a:pt x="63288" y="2018524"/>
                    <a:pt x="0" y="1955235"/>
                    <a:pt x="0" y="1877165"/>
                  </a:cubicBezTo>
                  <a:lnTo>
                    <a:pt x="0" y="141358"/>
                  </a:lnTo>
                  <a:cubicBezTo>
                    <a:pt x="0" y="63288"/>
                    <a:pt x="63288" y="0"/>
                    <a:pt x="141358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1505" cy="2056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085777" y="5694289"/>
            <a:ext cx="7173523" cy="76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12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CRUD (cr</a:t>
            </a:r>
            <a:r>
              <a:rPr lang="en-US" sz="2121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ear, leer, actualizar, eliminar) funcionando correctamente.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-2330291" y="1193476"/>
            <a:ext cx="12192397" cy="8687591"/>
            <a:chOff x="0" y="0"/>
            <a:chExt cx="3211166" cy="22880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11166" cy="2288090"/>
            </a:xfrm>
            <a:custGeom>
              <a:avLst/>
              <a:gdLst/>
              <a:ahLst/>
              <a:cxnLst/>
              <a:rect r="r" b="b" t="t" l="l"/>
              <a:pathLst>
                <a:path h="2288090" w="3211166">
                  <a:moveTo>
                    <a:pt x="17779" y="0"/>
                  </a:moveTo>
                  <a:lnTo>
                    <a:pt x="3193387" y="0"/>
                  </a:lnTo>
                  <a:cubicBezTo>
                    <a:pt x="3203206" y="0"/>
                    <a:pt x="3211166" y="7960"/>
                    <a:pt x="3211166" y="17779"/>
                  </a:cubicBezTo>
                  <a:lnTo>
                    <a:pt x="3211166" y="2270311"/>
                  </a:lnTo>
                  <a:cubicBezTo>
                    <a:pt x="3211166" y="2280130"/>
                    <a:pt x="3203206" y="2288090"/>
                    <a:pt x="3193387" y="2288090"/>
                  </a:cubicBezTo>
                  <a:lnTo>
                    <a:pt x="17779" y="2288090"/>
                  </a:lnTo>
                  <a:cubicBezTo>
                    <a:pt x="7960" y="2288090"/>
                    <a:pt x="0" y="2280130"/>
                    <a:pt x="0" y="2270311"/>
                  </a:cubicBezTo>
                  <a:lnTo>
                    <a:pt x="0" y="17779"/>
                  </a:lnTo>
                  <a:cubicBezTo>
                    <a:pt x="0" y="7960"/>
                    <a:pt x="7960" y="0"/>
                    <a:pt x="17779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11166" cy="2326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53506" y="2650819"/>
            <a:ext cx="9425152" cy="5772906"/>
          </a:xfrm>
          <a:custGeom>
            <a:avLst/>
            <a:gdLst/>
            <a:ahLst/>
            <a:cxnLst/>
            <a:rect r="r" b="b" t="t" l="l"/>
            <a:pathLst>
              <a:path h="5772906" w="9425152">
                <a:moveTo>
                  <a:pt x="0" y="0"/>
                </a:moveTo>
                <a:lnTo>
                  <a:pt x="9425152" y="0"/>
                </a:lnTo>
                <a:lnTo>
                  <a:pt x="9425152" y="5772905"/>
                </a:lnTo>
                <a:lnTo>
                  <a:pt x="0" y="577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9699" y="2836164"/>
            <a:ext cx="7279369" cy="642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1"/>
              </a:lnSpc>
            </a:pPr>
          </a:p>
          <a:p>
            <a:pPr algn="l" marL="575821" indent="-287911" lvl="1">
              <a:lnSpc>
                <a:spcPts val="4293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Registrar empresas, reclutadores y ofertas laborales. </a:t>
            </a:r>
          </a:p>
          <a:p>
            <a:pPr algn="l">
              <a:lnSpc>
                <a:spcPts val="4293"/>
              </a:lnSpc>
            </a:pPr>
          </a:p>
          <a:p>
            <a:pPr algn="l" marL="575821" indent="-287911" lvl="1">
              <a:lnSpc>
                <a:spcPts val="4293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Crear postulaciones con datos del candidato y CV.</a:t>
            </a:r>
          </a:p>
          <a:p>
            <a:pPr algn="l">
              <a:lnSpc>
                <a:spcPts val="4293"/>
              </a:lnSpc>
            </a:pPr>
          </a:p>
          <a:p>
            <a:pPr algn="l" marL="575821" indent="-287911" lvl="1">
              <a:lnSpc>
                <a:spcPts val="4293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Visualizar y actualizar etapas del proceso de selección. </a:t>
            </a:r>
          </a:p>
          <a:p>
            <a:pPr algn="l">
              <a:lnSpc>
                <a:spcPts val="4293"/>
              </a:lnSpc>
            </a:pPr>
          </a:p>
          <a:p>
            <a:pPr algn="l" marL="575821" indent="-287911" lvl="1">
              <a:lnSpc>
                <a:spcPts val="4293"/>
              </a:lnSpc>
              <a:buFont typeface="Arial"/>
              <a:buChar char="•"/>
            </a:pPr>
            <a:r>
              <a:rPr lang="en-US" sz="26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Validar la comunicación entre backend y base de datos mediante peticiones REST.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113" y="1009650"/>
            <a:ext cx="7782540" cy="168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3"/>
              </a:lnSpc>
              <a:spcBef>
                <a:spcPct val="0"/>
              </a:spcBef>
            </a:pPr>
            <a:r>
              <a:rPr lang="en-US" b="true" sz="5421" spc="103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PROCESO FUNCIONAL ACTUAL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0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986" y="844236"/>
            <a:ext cx="15458028" cy="8598528"/>
          </a:xfrm>
          <a:custGeom>
            <a:avLst/>
            <a:gdLst/>
            <a:ahLst/>
            <a:cxnLst/>
            <a:rect r="r" b="b" t="t" l="l"/>
            <a:pathLst>
              <a:path h="8598528" w="15458028">
                <a:moveTo>
                  <a:pt x="0" y="0"/>
                </a:moveTo>
                <a:lnTo>
                  <a:pt x="15458028" y="0"/>
                </a:lnTo>
                <a:lnTo>
                  <a:pt x="15458028" y="8598528"/>
                </a:lnTo>
                <a:lnTo>
                  <a:pt x="0" y="8598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359561" y="-6092696"/>
            <a:ext cx="4127957" cy="13265766"/>
            <a:chOff x="0" y="0"/>
            <a:chExt cx="1087198" cy="34938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7198" cy="3493864"/>
            </a:xfrm>
            <a:custGeom>
              <a:avLst/>
              <a:gdLst/>
              <a:ahLst/>
              <a:cxnLst/>
              <a:rect r="r" b="b" t="t" l="l"/>
              <a:pathLst>
                <a:path h="3493864" w="1087198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3441351"/>
                  </a:lnTo>
                  <a:cubicBezTo>
                    <a:pt x="1087198" y="3455278"/>
                    <a:pt x="1081666" y="3468635"/>
                    <a:pt x="1071818" y="3478483"/>
                  </a:cubicBezTo>
                  <a:cubicBezTo>
                    <a:pt x="1061969" y="3488332"/>
                    <a:pt x="1048612" y="3493864"/>
                    <a:pt x="1034685" y="3493864"/>
                  </a:cubicBezTo>
                  <a:lnTo>
                    <a:pt x="52514" y="3493864"/>
                  </a:lnTo>
                  <a:cubicBezTo>
                    <a:pt x="23511" y="3493864"/>
                    <a:pt x="0" y="3470353"/>
                    <a:pt x="0" y="3441351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87198" cy="3531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98136"/>
            <a:ext cx="838877" cy="867012"/>
            <a:chOff x="0" y="0"/>
            <a:chExt cx="716657" cy="740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6657" cy="740693"/>
            </a:xfrm>
            <a:custGeom>
              <a:avLst/>
              <a:gdLst/>
              <a:ahLst/>
              <a:cxnLst/>
              <a:rect r="r" b="b" t="t" l="l"/>
              <a:pathLst>
                <a:path h="740693" w="716657">
                  <a:moveTo>
                    <a:pt x="276867" y="0"/>
                  </a:moveTo>
                  <a:lnTo>
                    <a:pt x="439790" y="0"/>
                  </a:lnTo>
                  <a:cubicBezTo>
                    <a:pt x="513220" y="0"/>
                    <a:pt x="583642" y="29170"/>
                    <a:pt x="635565" y="81093"/>
                  </a:cubicBezTo>
                  <a:cubicBezTo>
                    <a:pt x="687488" y="133015"/>
                    <a:pt x="716657" y="203437"/>
                    <a:pt x="716657" y="276867"/>
                  </a:cubicBezTo>
                  <a:lnTo>
                    <a:pt x="716657" y="463826"/>
                  </a:lnTo>
                  <a:cubicBezTo>
                    <a:pt x="716657" y="616735"/>
                    <a:pt x="592700" y="740693"/>
                    <a:pt x="439790" y="740693"/>
                  </a:cubicBezTo>
                  <a:lnTo>
                    <a:pt x="276867" y="740693"/>
                  </a:lnTo>
                  <a:cubicBezTo>
                    <a:pt x="203437" y="740693"/>
                    <a:pt x="133015" y="711523"/>
                    <a:pt x="81093" y="659601"/>
                  </a:cubicBezTo>
                  <a:cubicBezTo>
                    <a:pt x="29170" y="607678"/>
                    <a:pt x="0" y="537256"/>
                    <a:pt x="0" y="463826"/>
                  </a:cubicBezTo>
                  <a:lnTo>
                    <a:pt x="0" y="276867"/>
                  </a:lnTo>
                  <a:cubicBezTo>
                    <a:pt x="0" y="123958"/>
                    <a:pt x="123958" y="0"/>
                    <a:pt x="27686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16657" cy="759743"/>
            </a:xfrm>
            <a:prstGeom prst="rect">
              <a:avLst/>
            </a:prstGeom>
          </p:spPr>
          <p:txBody>
            <a:bodyPr anchor="ctr" rtlCol="false" tIns="26301" lIns="26301" bIns="26301" rIns="26301"/>
            <a:lstStyle/>
            <a:p>
              <a:pPr algn="ctr">
                <a:lnSpc>
                  <a:spcPts val="137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8177" y="2897048"/>
            <a:ext cx="839930" cy="868100"/>
            <a:chOff x="0" y="0"/>
            <a:chExt cx="716657" cy="7406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6657" cy="740693"/>
            </a:xfrm>
            <a:custGeom>
              <a:avLst/>
              <a:gdLst/>
              <a:ahLst/>
              <a:cxnLst/>
              <a:rect r="r" b="b" t="t" l="l"/>
              <a:pathLst>
                <a:path h="740693" w="716657">
                  <a:moveTo>
                    <a:pt x="276520" y="0"/>
                  </a:moveTo>
                  <a:lnTo>
                    <a:pt x="440137" y="0"/>
                  </a:lnTo>
                  <a:cubicBezTo>
                    <a:pt x="513475" y="0"/>
                    <a:pt x="583809" y="29133"/>
                    <a:pt x="635667" y="80991"/>
                  </a:cubicBezTo>
                  <a:cubicBezTo>
                    <a:pt x="687524" y="132849"/>
                    <a:pt x="716657" y="203183"/>
                    <a:pt x="716657" y="276520"/>
                  </a:cubicBezTo>
                  <a:lnTo>
                    <a:pt x="716657" y="464173"/>
                  </a:lnTo>
                  <a:cubicBezTo>
                    <a:pt x="716657" y="616891"/>
                    <a:pt x="592855" y="740693"/>
                    <a:pt x="440137" y="740693"/>
                  </a:cubicBezTo>
                  <a:lnTo>
                    <a:pt x="276520" y="740693"/>
                  </a:lnTo>
                  <a:cubicBezTo>
                    <a:pt x="203183" y="740693"/>
                    <a:pt x="132849" y="711560"/>
                    <a:pt x="80991" y="659702"/>
                  </a:cubicBezTo>
                  <a:cubicBezTo>
                    <a:pt x="29133" y="607845"/>
                    <a:pt x="0" y="537511"/>
                    <a:pt x="0" y="464173"/>
                  </a:cubicBezTo>
                  <a:lnTo>
                    <a:pt x="0" y="276520"/>
                  </a:lnTo>
                  <a:cubicBezTo>
                    <a:pt x="0" y="123802"/>
                    <a:pt x="123802" y="0"/>
                    <a:pt x="27652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16657" cy="759743"/>
            </a:xfrm>
            <a:prstGeom prst="rect">
              <a:avLst/>
            </a:prstGeom>
          </p:spPr>
          <p:txBody>
            <a:bodyPr anchor="ctr" rtlCol="false" tIns="26301" lIns="26301" bIns="26301" rIns="26301"/>
            <a:lstStyle/>
            <a:p>
              <a:pPr algn="ctr">
                <a:lnSpc>
                  <a:spcPts val="137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431005" y="4861372"/>
            <a:ext cx="4827216" cy="177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99" spc="1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2199" strike="noStrike" spc="19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onstruimos las tablas y relaciones en PostgreSQL, validando la integridad referencial y los índices necesarios.</a:t>
            </a:r>
          </a:p>
          <a:p>
            <a:pPr algn="l" marL="0" indent="0" lvl="0">
              <a:lnSpc>
                <a:spcPts val="3541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2307655" y="2897048"/>
            <a:ext cx="839930" cy="868100"/>
            <a:chOff x="0" y="0"/>
            <a:chExt cx="716657" cy="740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6657" cy="740693"/>
            </a:xfrm>
            <a:custGeom>
              <a:avLst/>
              <a:gdLst/>
              <a:ahLst/>
              <a:cxnLst/>
              <a:rect r="r" b="b" t="t" l="l"/>
              <a:pathLst>
                <a:path h="740693" w="716657">
                  <a:moveTo>
                    <a:pt x="276520" y="0"/>
                  </a:moveTo>
                  <a:lnTo>
                    <a:pt x="440137" y="0"/>
                  </a:lnTo>
                  <a:cubicBezTo>
                    <a:pt x="513475" y="0"/>
                    <a:pt x="583809" y="29133"/>
                    <a:pt x="635667" y="80991"/>
                  </a:cubicBezTo>
                  <a:cubicBezTo>
                    <a:pt x="687524" y="132849"/>
                    <a:pt x="716657" y="203183"/>
                    <a:pt x="716657" y="276520"/>
                  </a:cubicBezTo>
                  <a:lnTo>
                    <a:pt x="716657" y="464173"/>
                  </a:lnTo>
                  <a:cubicBezTo>
                    <a:pt x="716657" y="616891"/>
                    <a:pt x="592855" y="740693"/>
                    <a:pt x="440137" y="740693"/>
                  </a:cubicBezTo>
                  <a:lnTo>
                    <a:pt x="276520" y="740693"/>
                  </a:lnTo>
                  <a:cubicBezTo>
                    <a:pt x="203183" y="740693"/>
                    <a:pt x="132849" y="711560"/>
                    <a:pt x="80991" y="659702"/>
                  </a:cubicBezTo>
                  <a:cubicBezTo>
                    <a:pt x="29133" y="607845"/>
                    <a:pt x="0" y="537511"/>
                    <a:pt x="0" y="464173"/>
                  </a:cubicBezTo>
                  <a:lnTo>
                    <a:pt x="0" y="276520"/>
                  </a:lnTo>
                  <a:cubicBezTo>
                    <a:pt x="0" y="123802"/>
                    <a:pt x="123802" y="0"/>
                    <a:pt x="27652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16657" cy="759743"/>
            </a:xfrm>
            <a:prstGeom prst="rect">
              <a:avLst/>
            </a:prstGeom>
          </p:spPr>
          <p:txBody>
            <a:bodyPr anchor="ctr" rtlCol="false" tIns="26301" lIns="26301" bIns="26301" rIns="26301"/>
            <a:lstStyle/>
            <a:p>
              <a:pPr algn="ctr">
                <a:lnSpc>
                  <a:spcPts val="137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456138"/>
            <a:ext cx="838877" cy="867012"/>
            <a:chOff x="0" y="0"/>
            <a:chExt cx="716657" cy="7406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6657" cy="740693"/>
            </a:xfrm>
            <a:custGeom>
              <a:avLst/>
              <a:gdLst/>
              <a:ahLst/>
              <a:cxnLst/>
              <a:rect r="r" b="b" t="t" l="l"/>
              <a:pathLst>
                <a:path h="740693" w="716657">
                  <a:moveTo>
                    <a:pt x="276867" y="0"/>
                  </a:moveTo>
                  <a:lnTo>
                    <a:pt x="439790" y="0"/>
                  </a:lnTo>
                  <a:cubicBezTo>
                    <a:pt x="513220" y="0"/>
                    <a:pt x="583642" y="29170"/>
                    <a:pt x="635565" y="81093"/>
                  </a:cubicBezTo>
                  <a:cubicBezTo>
                    <a:pt x="687488" y="133015"/>
                    <a:pt x="716657" y="203437"/>
                    <a:pt x="716657" y="276867"/>
                  </a:cubicBezTo>
                  <a:lnTo>
                    <a:pt x="716657" y="463826"/>
                  </a:lnTo>
                  <a:cubicBezTo>
                    <a:pt x="716657" y="616735"/>
                    <a:pt x="592700" y="740693"/>
                    <a:pt x="439790" y="740693"/>
                  </a:cubicBezTo>
                  <a:lnTo>
                    <a:pt x="276867" y="740693"/>
                  </a:lnTo>
                  <a:cubicBezTo>
                    <a:pt x="203437" y="740693"/>
                    <a:pt x="133015" y="711523"/>
                    <a:pt x="81093" y="659601"/>
                  </a:cubicBezTo>
                  <a:cubicBezTo>
                    <a:pt x="29170" y="607678"/>
                    <a:pt x="0" y="537256"/>
                    <a:pt x="0" y="463826"/>
                  </a:cubicBezTo>
                  <a:lnTo>
                    <a:pt x="0" y="276867"/>
                  </a:lnTo>
                  <a:cubicBezTo>
                    <a:pt x="0" y="123958"/>
                    <a:pt x="123958" y="0"/>
                    <a:pt x="27686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716657" cy="759743"/>
            </a:xfrm>
            <a:prstGeom prst="rect">
              <a:avLst/>
            </a:prstGeom>
          </p:spPr>
          <p:txBody>
            <a:bodyPr anchor="ctr" rtlCol="false" tIns="26301" lIns="26301" bIns="26301" rIns="26301"/>
            <a:lstStyle/>
            <a:p>
              <a:pPr algn="ctr">
                <a:lnSpc>
                  <a:spcPts val="137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68177" y="6455051"/>
            <a:ext cx="839930" cy="868100"/>
            <a:chOff x="0" y="0"/>
            <a:chExt cx="716657" cy="740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6657" cy="740693"/>
            </a:xfrm>
            <a:custGeom>
              <a:avLst/>
              <a:gdLst/>
              <a:ahLst/>
              <a:cxnLst/>
              <a:rect r="r" b="b" t="t" l="l"/>
              <a:pathLst>
                <a:path h="740693" w="716657">
                  <a:moveTo>
                    <a:pt x="276520" y="0"/>
                  </a:moveTo>
                  <a:lnTo>
                    <a:pt x="440137" y="0"/>
                  </a:lnTo>
                  <a:cubicBezTo>
                    <a:pt x="513475" y="0"/>
                    <a:pt x="583809" y="29133"/>
                    <a:pt x="635667" y="80991"/>
                  </a:cubicBezTo>
                  <a:cubicBezTo>
                    <a:pt x="687524" y="132849"/>
                    <a:pt x="716657" y="203183"/>
                    <a:pt x="716657" y="276520"/>
                  </a:cubicBezTo>
                  <a:lnTo>
                    <a:pt x="716657" y="464173"/>
                  </a:lnTo>
                  <a:cubicBezTo>
                    <a:pt x="716657" y="616891"/>
                    <a:pt x="592855" y="740693"/>
                    <a:pt x="440137" y="740693"/>
                  </a:cubicBezTo>
                  <a:lnTo>
                    <a:pt x="276520" y="740693"/>
                  </a:lnTo>
                  <a:cubicBezTo>
                    <a:pt x="203183" y="740693"/>
                    <a:pt x="132849" y="711560"/>
                    <a:pt x="80991" y="659702"/>
                  </a:cubicBezTo>
                  <a:cubicBezTo>
                    <a:pt x="29133" y="607845"/>
                    <a:pt x="0" y="537511"/>
                    <a:pt x="0" y="464173"/>
                  </a:cubicBezTo>
                  <a:lnTo>
                    <a:pt x="0" y="276520"/>
                  </a:lnTo>
                  <a:cubicBezTo>
                    <a:pt x="0" y="123802"/>
                    <a:pt x="123802" y="0"/>
                    <a:pt x="27652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16657" cy="759743"/>
            </a:xfrm>
            <a:prstGeom prst="rect">
              <a:avLst/>
            </a:prstGeom>
          </p:spPr>
          <p:txBody>
            <a:bodyPr anchor="ctr" rtlCol="false" tIns="26301" lIns="26301" bIns="26301" rIns="26301"/>
            <a:lstStyle/>
            <a:p>
              <a:pPr algn="ctr">
                <a:lnSpc>
                  <a:spcPts val="137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07655" y="6455051"/>
            <a:ext cx="839930" cy="868100"/>
            <a:chOff x="0" y="0"/>
            <a:chExt cx="716657" cy="740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6657" cy="740693"/>
            </a:xfrm>
            <a:custGeom>
              <a:avLst/>
              <a:gdLst/>
              <a:ahLst/>
              <a:cxnLst/>
              <a:rect r="r" b="b" t="t" l="l"/>
              <a:pathLst>
                <a:path h="740693" w="716657">
                  <a:moveTo>
                    <a:pt x="276520" y="0"/>
                  </a:moveTo>
                  <a:lnTo>
                    <a:pt x="440137" y="0"/>
                  </a:lnTo>
                  <a:cubicBezTo>
                    <a:pt x="513475" y="0"/>
                    <a:pt x="583809" y="29133"/>
                    <a:pt x="635667" y="80991"/>
                  </a:cubicBezTo>
                  <a:cubicBezTo>
                    <a:pt x="687524" y="132849"/>
                    <a:pt x="716657" y="203183"/>
                    <a:pt x="716657" y="276520"/>
                  </a:cubicBezTo>
                  <a:lnTo>
                    <a:pt x="716657" y="464173"/>
                  </a:lnTo>
                  <a:cubicBezTo>
                    <a:pt x="716657" y="616891"/>
                    <a:pt x="592855" y="740693"/>
                    <a:pt x="440137" y="740693"/>
                  </a:cubicBezTo>
                  <a:lnTo>
                    <a:pt x="276520" y="740693"/>
                  </a:lnTo>
                  <a:cubicBezTo>
                    <a:pt x="203183" y="740693"/>
                    <a:pt x="132849" y="711560"/>
                    <a:pt x="80991" y="659702"/>
                  </a:cubicBezTo>
                  <a:cubicBezTo>
                    <a:pt x="29133" y="607845"/>
                    <a:pt x="0" y="537511"/>
                    <a:pt x="0" y="464173"/>
                  </a:cubicBezTo>
                  <a:lnTo>
                    <a:pt x="0" y="276520"/>
                  </a:lnTo>
                  <a:cubicBezTo>
                    <a:pt x="0" y="123802"/>
                    <a:pt x="123802" y="0"/>
                    <a:pt x="27652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16657" cy="759743"/>
            </a:xfrm>
            <a:prstGeom prst="rect">
              <a:avLst/>
            </a:prstGeom>
          </p:spPr>
          <p:txBody>
            <a:bodyPr anchor="ctr" rtlCol="false" tIns="26301" lIns="26301" bIns="26301" rIns="26301"/>
            <a:lstStyle/>
            <a:p>
              <a:pPr algn="ctr">
                <a:lnSpc>
                  <a:spcPts val="137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790656" y="521137"/>
            <a:ext cx="13265766" cy="200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63"/>
              </a:lnSpc>
              <a:spcBef>
                <a:spcPct val="0"/>
              </a:spcBef>
            </a:pPr>
            <a:r>
              <a:rPr lang="en-US" b="true" sz="6421" spc="122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METODOLOGIA APLICADA Y AJUSTES REALIZADOS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857744"/>
            <a:ext cx="4827216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Levantamiento de requisitos: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8177" y="3937446"/>
            <a:ext cx="482721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Diseño del modelo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4923112"/>
            <a:ext cx="4827216" cy="91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2"/>
              </a:lnSpc>
            </a:pPr>
            <a:r>
              <a:rPr lang="en-US" sz="2299" spc="2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Ent</a:t>
            </a:r>
            <a:r>
              <a:rPr lang="en-US" sz="2299" spc="20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revistas con clienta, análisis del proceso manual.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8177" y="4861372"/>
            <a:ext cx="4827216" cy="132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99" spc="1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</a:t>
            </a:r>
            <a:r>
              <a:rPr lang="en-US" sz="2199" strike="noStrike" spc="19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artimos del análisis conceptual y lógico de las entidades y relaciones.</a:t>
            </a:r>
          </a:p>
          <a:p>
            <a:pPr algn="l" marL="0" indent="0" lvl="0">
              <a:lnSpc>
                <a:spcPts val="3541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151896" y="3084777"/>
            <a:ext cx="590214" cy="59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2"/>
              </a:lnSpc>
              <a:spcBef>
                <a:spcPct val="0"/>
              </a:spcBef>
            </a:pPr>
            <a:r>
              <a:rPr lang="en-US" b="true" sz="4631" u="none">
                <a:solidFill>
                  <a:srgbClr val="000A1F"/>
                </a:solidFill>
                <a:latin typeface="Muli Heavy"/>
                <a:ea typeface="Muli Heavy"/>
                <a:cs typeface="Muli Heavy"/>
                <a:sym typeface="Muli Heavy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91528" y="3083792"/>
            <a:ext cx="590955" cy="59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8"/>
              </a:lnSpc>
              <a:spcBef>
                <a:spcPct val="0"/>
              </a:spcBef>
            </a:pPr>
            <a:r>
              <a:rPr lang="en-US" b="true" sz="4637">
                <a:solidFill>
                  <a:srgbClr val="000A1F"/>
                </a:solidFill>
                <a:latin typeface="Muli Heavy"/>
                <a:ea typeface="Muli Heavy"/>
                <a:cs typeface="Muli Heavy"/>
                <a:sym typeface="Muli Heavy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2084" y="3857744"/>
            <a:ext cx="482721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Implementación de la base de datos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31005" y="3083792"/>
            <a:ext cx="590955" cy="59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8"/>
              </a:lnSpc>
              <a:spcBef>
                <a:spcPct val="0"/>
              </a:spcBef>
            </a:pPr>
            <a:r>
              <a:rPr lang="en-US" b="true" sz="4637">
                <a:solidFill>
                  <a:srgbClr val="000A1F"/>
                </a:solidFill>
                <a:latin typeface="Muli Heavy"/>
                <a:ea typeface="Muli Heavy"/>
                <a:cs typeface="Muli Heavy"/>
                <a:sym typeface="Muli Heavy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7415746"/>
            <a:ext cx="48272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Desarrollo del backend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30392" y="7415746"/>
            <a:ext cx="48272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Pruebas de conexión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7946491"/>
            <a:ext cx="4827216" cy="185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299" spc="2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2299" strike="noStrike" spc="20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onfiguramos un proyecto Nest.js con API Routes para manejar las peticiones REST.</a:t>
            </a:r>
          </a:p>
          <a:p>
            <a:pPr algn="l" marL="0" indent="0" lvl="0">
              <a:lnSpc>
                <a:spcPts val="370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6730392" y="7946491"/>
            <a:ext cx="4827216" cy="185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299" spc="2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2299" strike="noStrike" spc="20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ealizamos pruebas locales para confirmar la correcta comunicación entre el backend y la base de datos.</a:t>
            </a:r>
          </a:p>
          <a:p>
            <a:pPr algn="l" marL="0" indent="0" lvl="0">
              <a:lnSpc>
                <a:spcPts val="3702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151896" y="6642779"/>
            <a:ext cx="590214" cy="59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2"/>
              </a:lnSpc>
              <a:spcBef>
                <a:spcPct val="0"/>
              </a:spcBef>
            </a:pPr>
            <a:r>
              <a:rPr lang="en-US" b="true" sz="4631">
                <a:solidFill>
                  <a:srgbClr val="000A1F"/>
                </a:solidFill>
                <a:latin typeface="Muli Heavy"/>
                <a:ea typeface="Muli Heavy"/>
                <a:cs typeface="Muli Heavy"/>
                <a:sym typeface="Muli Heavy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91528" y="6641794"/>
            <a:ext cx="590955" cy="59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8"/>
              </a:lnSpc>
              <a:spcBef>
                <a:spcPct val="0"/>
              </a:spcBef>
            </a:pPr>
            <a:r>
              <a:rPr lang="en-US" b="true" sz="4637">
                <a:solidFill>
                  <a:srgbClr val="000A1F"/>
                </a:solidFill>
                <a:latin typeface="Muli Heavy"/>
                <a:ea typeface="Muli Heavy"/>
                <a:cs typeface="Muli Heavy"/>
                <a:sym typeface="Muli Heavy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32084" y="7946491"/>
            <a:ext cx="4827216" cy="185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2"/>
              </a:lnSpc>
            </a:pPr>
            <a:r>
              <a:rPr lang="en-US" sz="2299" spc="2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2299" spc="20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mplementamos y verificamos la creación, lectura, actualización y eliminación de registros para las entidades principales.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32084" y="7415746"/>
            <a:ext cx="48272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Validación del CRUD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31005" y="6641794"/>
            <a:ext cx="590955" cy="59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98"/>
              </a:lnSpc>
              <a:spcBef>
                <a:spcPct val="0"/>
              </a:spcBef>
            </a:pPr>
            <a:r>
              <a:rPr lang="en-US" b="true" sz="4637">
                <a:solidFill>
                  <a:srgbClr val="000A1F"/>
                </a:solidFill>
                <a:latin typeface="Muli Heavy"/>
                <a:ea typeface="Muli Heavy"/>
                <a:cs typeface="Muli Heavy"/>
                <a:sym typeface="Muli Heavy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259560" y="-5267325"/>
            <a:ext cx="4127957" cy="12592051"/>
            <a:chOff x="0" y="0"/>
            <a:chExt cx="1087198" cy="33164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7198" cy="3316425"/>
            </a:xfrm>
            <a:custGeom>
              <a:avLst/>
              <a:gdLst/>
              <a:ahLst/>
              <a:cxnLst/>
              <a:rect r="r" b="b" t="t" l="l"/>
              <a:pathLst>
                <a:path h="3316425" w="1087198">
                  <a:moveTo>
                    <a:pt x="52514" y="0"/>
                  </a:moveTo>
                  <a:lnTo>
                    <a:pt x="1034685" y="0"/>
                  </a:lnTo>
                  <a:cubicBezTo>
                    <a:pt x="1063687" y="0"/>
                    <a:pt x="1087198" y="23511"/>
                    <a:pt x="1087198" y="52514"/>
                  </a:cubicBezTo>
                  <a:lnTo>
                    <a:pt x="1087198" y="3263911"/>
                  </a:lnTo>
                  <a:cubicBezTo>
                    <a:pt x="1087198" y="3277839"/>
                    <a:pt x="1081666" y="3291196"/>
                    <a:pt x="1071818" y="3301044"/>
                  </a:cubicBezTo>
                  <a:cubicBezTo>
                    <a:pt x="1061969" y="3310892"/>
                    <a:pt x="1048612" y="3316425"/>
                    <a:pt x="1034685" y="3316425"/>
                  </a:cubicBezTo>
                  <a:lnTo>
                    <a:pt x="52514" y="3316425"/>
                  </a:lnTo>
                  <a:cubicBezTo>
                    <a:pt x="38586" y="3316425"/>
                    <a:pt x="25229" y="3310892"/>
                    <a:pt x="15381" y="3301044"/>
                  </a:cubicBezTo>
                  <a:cubicBezTo>
                    <a:pt x="5533" y="3291196"/>
                    <a:pt x="0" y="3277839"/>
                    <a:pt x="0" y="3263911"/>
                  </a:cubicBezTo>
                  <a:lnTo>
                    <a:pt x="0" y="52514"/>
                  </a:lnTo>
                  <a:cubicBezTo>
                    <a:pt x="0" y="23511"/>
                    <a:pt x="23511" y="0"/>
                    <a:pt x="52514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87198" cy="335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43250" y="821401"/>
            <a:ext cx="11560575" cy="119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51"/>
              </a:lnSpc>
              <a:spcBef>
                <a:spcPct val="0"/>
              </a:spcBef>
            </a:pPr>
            <a:r>
              <a:rPr lang="en-US" b="true" sz="7621" spc="144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HACIA DONDE VAMOS</a:t>
            </a:r>
          </a:p>
        </p:txBody>
      </p:sp>
      <p:grpSp>
        <p:nvGrpSpPr>
          <p:cNvPr name="Group 7" id="7"/>
          <p:cNvGrpSpPr/>
          <p:nvPr/>
        </p:nvGrpSpPr>
        <p:grpSpPr>
          <a:xfrm rot="5400000">
            <a:off x="6865788" y="2666337"/>
            <a:ext cx="4915500" cy="7413838"/>
            <a:chOff x="0" y="0"/>
            <a:chExt cx="1294617" cy="1952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4617" cy="1952616"/>
            </a:xfrm>
            <a:custGeom>
              <a:avLst/>
              <a:gdLst/>
              <a:ahLst/>
              <a:cxnLst/>
              <a:rect r="r" b="b" t="t" l="l"/>
              <a:pathLst>
                <a:path h="1952616" w="1294617">
                  <a:moveTo>
                    <a:pt x="44100" y="0"/>
                  </a:moveTo>
                  <a:lnTo>
                    <a:pt x="1250517" y="0"/>
                  </a:lnTo>
                  <a:cubicBezTo>
                    <a:pt x="1262213" y="0"/>
                    <a:pt x="1273430" y="4646"/>
                    <a:pt x="1281701" y="12917"/>
                  </a:cubicBezTo>
                  <a:cubicBezTo>
                    <a:pt x="1289971" y="21187"/>
                    <a:pt x="1294617" y="32404"/>
                    <a:pt x="1294617" y="44100"/>
                  </a:cubicBezTo>
                  <a:lnTo>
                    <a:pt x="1294617" y="1908516"/>
                  </a:lnTo>
                  <a:cubicBezTo>
                    <a:pt x="1294617" y="1920212"/>
                    <a:pt x="1289971" y="1931429"/>
                    <a:pt x="1281701" y="1939699"/>
                  </a:cubicBezTo>
                  <a:cubicBezTo>
                    <a:pt x="1273430" y="1947969"/>
                    <a:pt x="1262213" y="1952616"/>
                    <a:pt x="1250517" y="1952616"/>
                  </a:cubicBezTo>
                  <a:lnTo>
                    <a:pt x="44100" y="1952616"/>
                  </a:lnTo>
                  <a:cubicBezTo>
                    <a:pt x="19744" y="1952616"/>
                    <a:pt x="0" y="1932871"/>
                    <a:pt x="0" y="1908516"/>
                  </a:cubicBezTo>
                  <a:lnTo>
                    <a:pt x="0" y="44100"/>
                  </a:lnTo>
                  <a:cubicBezTo>
                    <a:pt x="0" y="32404"/>
                    <a:pt x="4646" y="21187"/>
                    <a:pt x="12917" y="12917"/>
                  </a:cubicBezTo>
                  <a:cubicBezTo>
                    <a:pt x="21187" y="4646"/>
                    <a:pt x="32404" y="0"/>
                    <a:pt x="44100" y="0"/>
                  </a:cubicBez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94617" cy="199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185296" y="4901358"/>
            <a:ext cx="6276484" cy="283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1053" indent="-255527" lvl="1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Integrar el frontend con el backend para visualizar ofertas y postulaciones. </a:t>
            </a:r>
          </a:p>
          <a:p>
            <a:pPr algn="ctr" marL="511053" indent="-255527" lvl="1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Implementar autenticación de usuarios (administrador / reclutador). </a:t>
            </a:r>
          </a:p>
          <a:p>
            <a:pPr algn="ctr" marL="511053" indent="-255527" lvl="1">
              <a:lnSpc>
                <a:spcPts val="3811"/>
              </a:lnSpc>
              <a:buFont typeface="Arial"/>
              <a:buChar char="•"/>
            </a:pPr>
            <a:r>
              <a:rPr lang="en-US" sz="23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Mejorar la interfaz del módulo de reclutamiento.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2376901">
            <a:off x="6025872" y="-1562825"/>
            <a:ext cx="13552631" cy="21642251"/>
            <a:chOff x="0" y="0"/>
            <a:chExt cx="3569417" cy="5700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9417" cy="5700017"/>
            </a:xfrm>
            <a:custGeom>
              <a:avLst/>
              <a:gdLst/>
              <a:ahLst/>
              <a:cxnLst/>
              <a:rect r="r" b="b" t="t" l="l"/>
              <a:pathLst>
                <a:path h="5700017" w="3569417">
                  <a:moveTo>
                    <a:pt x="0" y="0"/>
                  </a:moveTo>
                  <a:lnTo>
                    <a:pt x="3569417" y="0"/>
                  </a:lnTo>
                  <a:lnTo>
                    <a:pt x="3569417" y="5700017"/>
                  </a:lnTo>
                  <a:lnTo>
                    <a:pt x="0" y="5700017"/>
                  </a:lnTo>
                  <a:close/>
                </a:path>
              </a:pathLst>
            </a:custGeom>
            <a:solidFill>
              <a:srgbClr val="000A1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69417" cy="57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03237" y="1845815"/>
            <a:ext cx="1681525" cy="1791444"/>
          </a:xfrm>
          <a:custGeom>
            <a:avLst/>
            <a:gdLst/>
            <a:ahLst/>
            <a:cxnLst/>
            <a:rect r="r" b="b" t="t" l="l"/>
            <a:pathLst>
              <a:path h="1791444" w="1681525">
                <a:moveTo>
                  <a:pt x="0" y="0"/>
                </a:moveTo>
                <a:lnTo>
                  <a:pt x="1681526" y="0"/>
                </a:lnTo>
                <a:lnTo>
                  <a:pt x="1681526" y="1791444"/>
                </a:lnTo>
                <a:lnTo>
                  <a:pt x="0" y="1791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95769" y="3915744"/>
            <a:ext cx="11896462" cy="239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9"/>
              </a:lnSpc>
            </a:pPr>
            <a:r>
              <a:rPr lang="en-US" b="true" sz="15378" spc="292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DAG15o1hQF0</dc:identifier>
  <dcterms:modified xsi:type="dcterms:W3CDTF">2011-08-01T06:04:30Z</dcterms:modified>
  <cp:revision>1</cp:revision>
  <dc:title>Presentación proyecto moderno azul</dc:title>
</cp:coreProperties>
</file>